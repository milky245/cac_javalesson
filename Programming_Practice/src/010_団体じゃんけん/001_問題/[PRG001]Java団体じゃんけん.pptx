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82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1087338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102146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2894707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1499699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1837243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4098616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292134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2066184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1572565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291088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936513D-731E-418F-8F25-A62302263050}" type="datetimeFigureOut">
              <a:rPr kumimoji="1" lang="ja-JP" altLang="en-US" smtClean="0"/>
              <a:t>2024/5/27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948207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36513D-731E-418F-8F25-A62302263050}" type="datetimeFigureOut">
              <a:rPr kumimoji="1" lang="ja-JP" altLang="en-US" smtClean="0"/>
              <a:t>2024/5/27</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8BB169-079C-46DF-AE4A-F2A30A2CD929}" type="slidenum">
              <a:rPr kumimoji="1" lang="ja-JP" altLang="en-US" smtClean="0"/>
              <a:t>‹#›</a:t>
            </a:fld>
            <a:endParaRPr kumimoji="1" lang="ja-JP" altLang="en-US"/>
          </a:p>
        </p:txBody>
      </p:sp>
    </p:spTree>
    <p:extLst>
      <p:ext uri="{BB962C8B-B14F-4D97-AF65-F5344CB8AC3E}">
        <p14:creationId xmlns:p14="http://schemas.microsoft.com/office/powerpoint/2010/main" val="376371794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a:bodyPr>
          <a:lstStyle/>
          <a:p>
            <a:r>
              <a:rPr kumimoji="1" lang="ja-JP" altLang="en-US" dirty="0">
                <a:latin typeface="UD デジタル 教科書体 NP-R" panose="02020400000000000000" pitchFamily="18" charset="-128"/>
                <a:ea typeface="UD デジタル 教科書体 NP-R" panose="02020400000000000000" pitchFamily="18" charset="-128"/>
              </a:rPr>
              <a:t>演習課題：</a:t>
            </a:r>
            <a:br>
              <a:rPr kumimoji="1" lang="en-US" altLang="ja-JP" dirty="0">
                <a:latin typeface="UD デジタル 教科書体 NP-R" panose="02020400000000000000" pitchFamily="18" charset="-128"/>
                <a:ea typeface="UD デジタル 教科書体 NP-R" panose="02020400000000000000" pitchFamily="18" charset="-128"/>
              </a:rPr>
            </a:br>
            <a:r>
              <a:rPr kumimoji="1" lang="ja-JP" altLang="en-US" dirty="0">
                <a:latin typeface="UD デジタル 教科書体 NP-R" panose="02020400000000000000" pitchFamily="18" charset="-128"/>
                <a:ea typeface="UD デジタル 教科書体 NP-R" panose="02020400000000000000" pitchFamily="18" charset="-128"/>
              </a:rPr>
              <a:t>団体じゃんけん</a:t>
            </a:r>
          </a:p>
        </p:txBody>
      </p:sp>
      <p:sp>
        <p:nvSpPr>
          <p:cNvPr id="3" name="サブタイトル 2"/>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593421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a:xfrm>
            <a:off x="457200" y="274638"/>
            <a:ext cx="3466728" cy="562074"/>
          </a:xfrm>
        </p:spPr>
        <p:txBody>
          <a:bodyPr>
            <a:noAutofit/>
          </a:bodyPr>
          <a:lstStyle/>
          <a:p>
            <a:pPr algn="l"/>
            <a:r>
              <a:rPr kumimoji="1" lang="ja-JP" altLang="en-US" sz="2800" dirty="0">
                <a:latin typeface="游ゴシック Medium" panose="020B0500000000000000" pitchFamily="50" charset="-128"/>
                <a:ea typeface="游ゴシック Medium" panose="020B0500000000000000" pitchFamily="50" charset="-128"/>
              </a:rPr>
              <a:t>はじめに</a:t>
            </a:r>
          </a:p>
        </p:txBody>
      </p:sp>
      <p:sp>
        <p:nvSpPr>
          <p:cNvPr id="7" name="コンテンツ プレースホルダー 6"/>
          <p:cNvSpPr>
            <a:spLocks noGrp="1"/>
          </p:cNvSpPr>
          <p:nvPr>
            <p:ph idx="1"/>
          </p:nvPr>
        </p:nvSpPr>
        <p:spPr>
          <a:xfrm>
            <a:off x="457200" y="1052736"/>
            <a:ext cx="8229600" cy="5073427"/>
          </a:xfrm>
        </p:spPr>
        <p:txBody>
          <a:bodyPr/>
          <a:lstStyle/>
          <a:p>
            <a:r>
              <a:rPr kumimoji="1" lang="ja-JP" altLang="en-US" dirty="0">
                <a:latin typeface="游ゴシック Medium" panose="020B0500000000000000" pitchFamily="50" charset="-128"/>
                <a:ea typeface="游ゴシック Medium" panose="020B0500000000000000" pitchFamily="50" charset="-128"/>
              </a:rPr>
              <a:t>この演習では、</a:t>
            </a:r>
            <a:r>
              <a:rPr kumimoji="1" lang="en-US" altLang="ja-JP" dirty="0">
                <a:latin typeface="游ゴシック Medium" panose="020B0500000000000000" pitchFamily="50" charset="-128"/>
                <a:ea typeface="游ゴシック Medium" panose="020B0500000000000000" pitchFamily="50" charset="-128"/>
              </a:rPr>
              <a:t>Java</a:t>
            </a:r>
            <a:r>
              <a:rPr kumimoji="1" lang="ja-JP" altLang="en-US" dirty="0">
                <a:latin typeface="游ゴシック Medium" panose="020B0500000000000000" pitchFamily="50" charset="-128"/>
                <a:ea typeface="游ゴシック Medium" panose="020B0500000000000000" pitchFamily="50" charset="-128"/>
              </a:rPr>
              <a:t>基本文法のまとめとしてじゃんけんを題材にプログラミングを行います。</a:t>
            </a:r>
            <a:endParaRPr kumimoji="1" lang="en-US" altLang="ja-JP" dirty="0">
              <a:latin typeface="游ゴシック Medium" panose="020B0500000000000000" pitchFamily="50" charset="-128"/>
              <a:ea typeface="游ゴシック Medium" panose="020B0500000000000000" pitchFamily="50" charset="-128"/>
            </a:endParaRPr>
          </a:p>
          <a:p>
            <a:r>
              <a:rPr lang="ja-JP" altLang="en-US" dirty="0">
                <a:latin typeface="游ゴシック Medium" panose="020B0500000000000000" pitchFamily="50" charset="-128"/>
                <a:ea typeface="游ゴシック Medium" panose="020B0500000000000000" pitchFamily="50" charset="-128"/>
              </a:rPr>
              <a:t>今回は</a:t>
            </a:r>
            <a:r>
              <a:rPr lang="en-US" altLang="ja-JP" dirty="0">
                <a:latin typeface="游ゴシック Medium" panose="020B0500000000000000" pitchFamily="50" charset="-128"/>
                <a:ea typeface="游ゴシック Medium" panose="020B0500000000000000" pitchFamily="50" charset="-128"/>
              </a:rPr>
              <a:t>『</a:t>
            </a:r>
            <a:r>
              <a:rPr lang="ja-JP" altLang="en-US" dirty="0">
                <a:latin typeface="游ゴシック Medium" panose="020B0500000000000000" pitchFamily="50" charset="-128"/>
                <a:ea typeface="游ゴシック Medium" panose="020B0500000000000000" pitchFamily="50" charset="-128"/>
              </a:rPr>
              <a:t>団体じゃんけん</a:t>
            </a:r>
            <a:r>
              <a:rPr lang="en-US" altLang="ja-JP" dirty="0">
                <a:latin typeface="游ゴシック Medium" panose="020B0500000000000000" pitchFamily="50" charset="-128"/>
                <a:ea typeface="游ゴシック Medium" panose="020B0500000000000000" pitchFamily="50" charset="-128"/>
              </a:rPr>
              <a:t>』</a:t>
            </a:r>
            <a:r>
              <a:rPr lang="ja-JP" altLang="en-US" dirty="0">
                <a:latin typeface="游ゴシック Medium" panose="020B0500000000000000" pitchFamily="50" charset="-128"/>
                <a:ea typeface="游ゴシック Medium" panose="020B0500000000000000" pitchFamily="50" charset="-128"/>
              </a:rPr>
              <a:t>のプログラムを作成します。</a:t>
            </a:r>
            <a:endParaRPr lang="en-US" altLang="ja-JP" dirty="0">
              <a:latin typeface="游ゴシック Medium" panose="020B0500000000000000" pitchFamily="50" charset="-128"/>
              <a:ea typeface="游ゴシック Medium" panose="020B0500000000000000" pitchFamily="50" charset="-128"/>
            </a:endParaRPr>
          </a:p>
          <a:p>
            <a:endParaRPr kumimoji="1" lang="ja-JP" altLang="en-US" dirty="0">
              <a:latin typeface="游ゴシック Medium" panose="020B0500000000000000" pitchFamily="50" charset="-128"/>
              <a:ea typeface="游ゴシック Medium" panose="020B0500000000000000" pitchFamily="50" charset="-128"/>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927755"/>
            <a:ext cx="6693149" cy="1759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4551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a:xfrm>
            <a:off x="457200" y="274638"/>
            <a:ext cx="5770984" cy="562074"/>
          </a:xfrm>
        </p:spPr>
        <p:txBody>
          <a:bodyPr>
            <a:noAutofit/>
          </a:bodyPr>
          <a:lstStyle/>
          <a:p>
            <a:pPr algn="l"/>
            <a:r>
              <a:rPr kumimoji="1" lang="ja-JP" altLang="en-US" sz="2800" dirty="0">
                <a:latin typeface="游ゴシック Medium" panose="020B0500000000000000" pitchFamily="50" charset="-128"/>
                <a:ea typeface="游ゴシック Medium" panose="020B0500000000000000" pitchFamily="50" charset="-128"/>
              </a:rPr>
              <a:t>どんなプログラムを作成するか</a:t>
            </a:r>
          </a:p>
        </p:txBody>
      </p:sp>
      <p:sp>
        <p:nvSpPr>
          <p:cNvPr id="7" name="コンテンツ プレースホルダー 6"/>
          <p:cNvSpPr>
            <a:spLocks noGrp="1"/>
          </p:cNvSpPr>
          <p:nvPr>
            <p:ph idx="1"/>
          </p:nvPr>
        </p:nvSpPr>
        <p:spPr>
          <a:xfrm>
            <a:off x="457200" y="1052737"/>
            <a:ext cx="8147248" cy="864096"/>
          </a:xfrm>
        </p:spPr>
        <p:txBody>
          <a:bodyPr>
            <a:normAutofit/>
          </a:bodyPr>
          <a:lstStyle/>
          <a:p>
            <a:pPr marL="0" indent="0">
              <a:buNone/>
            </a:pPr>
            <a:r>
              <a:rPr kumimoji="1" lang="ja-JP" altLang="en-US" sz="2400" dirty="0">
                <a:latin typeface="游ゴシック Medium" panose="020B0500000000000000" pitchFamily="50" charset="-128"/>
                <a:ea typeface="游ゴシック Medium" panose="020B0500000000000000" pitchFamily="50" charset="-128"/>
              </a:rPr>
              <a:t>今回作成するじゃんけんゲームのルールは以下のとおりです。</a:t>
            </a:r>
          </a:p>
        </p:txBody>
      </p:sp>
      <p:sp>
        <p:nvSpPr>
          <p:cNvPr id="5" name="コンテンツ プレースホルダー 6"/>
          <p:cNvSpPr txBox="1">
            <a:spLocks/>
          </p:cNvSpPr>
          <p:nvPr/>
        </p:nvSpPr>
        <p:spPr>
          <a:xfrm>
            <a:off x="467544" y="2069232"/>
            <a:ext cx="8147248" cy="452812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pPr marL="0" indent="0">
              <a:buFont typeface="Arial" panose="020B0604020202020204" pitchFamily="34" charset="0"/>
              <a:buNone/>
            </a:pPr>
            <a:r>
              <a:rPr lang="ja-JP" altLang="en-US" sz="2400" dirty="0">
                <a:latin typeface="游ゴシック Medium" panose="020B0500000000000000" pitchFamily="50" charset="-128"/>
                <a:ea typeface="游ゴシック Medium" panose="020B0500000000000000" pitchFamily="50" charset="-128"/>
              </a:rPr>
              <a:t>★団体じゃんけんのルール</a:t>
            </a:r>
            <a:endParaRPr lang="en-US" altLang="ja-JP" sz="2400" dirty="0">
              <a:latin typeface="游ゴシック Medium" panose="020B0500000000000000" pitchFamily="50" charset="-128"/>
              <a:ea typeface="游ゴシック Medium" panose="020B0500000000000000" pitchFamily="50" charset="-128"/>
            </a:endParaRPr>
          </a:p>
          <a:p>
            <a:r>
              <a:rPr lang="ja-JP" altLang="en-US" sz="2000" dirty="0">
                <a:latin typeface="游ゴシック Medium" panose="020B0500000000000000" pitchFamily="50" charset="-128"/>
                <a:ea typeface="游ゴシック Medium" panose="020B0500000000000000" pitchFamily="50" charset="-128"/>
              </a:rPr>
              <a:t>あなた</a:t>
            </a:r>
            <a:r>
              <a:rPr lang="en-US" altLang="ja-JP" sz="2000" dirty="0">
                <a:latin typeface="游ゴシック Medium" panose="020B0500000000000000" pitchFamily="50" charset="-128"/>
                <a:ea typeface="游ゴシック Medium" panose="020B0500000000000000" pitchFamily="50" charset="-128"/>
              </a:rPr>
              <a:t>(</a:t>
            </a:r>
            <a:r>
              <a:rPr lang="ja-JP" altLang="en-US" sz="2000" dirty="0">
                <a:latin typeface="游ゴシック Medium" panose="020B0500000000000000" pitchFamily="50" charset="-128"/>
                <a:ea typeface="游ゴシック Medium" panose="020B0500000000000000" pitchFamily="50" charset="-128"/>
              </a:rPr>
              <a:t>プレイヤー</a:t>
            </a:r>
            <a:r>
              <a:rPr lang="en-US" altLang="ja-JP" sz="2000" dirty="0">
                <a:latin typeface="游ゴシック Medium" panose="020B0500000000000000" pitchFamily="50" charset="-128"/>
                <a:ea typeface="游ゴシック Medium" panose="020B0500000000000000" pitchFamily="50" charset="-128"/>
              </a:rPr>
              <a:t>)</a:t>
            </a:r>
            <a:r>
              <a:rPr lang="ja-JP" altLang="en-US" sz="2000" dirty="0">
                <a:latin typeface="游ゴシック Medium" panose="020B0500000000000000" pitchFamily="50" charset="-128"/>
                <a:ea typeface="游ゴシック Medium" panose="020B0500000000000000" pitchFamily="50" charset="-128"/>
              </a:rPr>
              <a:t>とコンピュータ</a:t>
            </a:r>
            <a:r>
              <a:rPr lang="en-US" altLang="ja-JP" sz="2000" dirty="0">
                <a:latin typeface="游ゴシック Medium" panose="020B0500000000000000" pitchFamily="50" charset="-128"/>
                <a:ea typeface="游ゴシック Medium" panose="020B0500000000000000" pitchFamily="50" charset="-128"/>
              </a:rPr>
              <a:t>(PC)</a:t>
            </a:r>
            <a:r>
              <a:rPr lang="ja-JP" altLang="en-US" sz="2000" dirty="0" err="1">
                <a:latin typeface="游ゴシック Medium" panose="020B0500000000000000" pitchFamily="50" charset="-128"/>
                <a:ea typeface="游ゴシック Medium" panose="020B0500000000000000" pitchFamily="50" charset="-128"/>
              </a:rPr>
              <a:t>のじゃんけんを</a:t>
            </a:r>
            <a:r>
              <a:rPr lang="ja-JP" altLang="en-US" sz="2000" dirty="0">
                <a:latin typeface="游ゴシック Medium" panose="020B0500000000000000" pitchFamily="50" charset="-128"/>
                <a:ea typeface="游ゴシック Medium" panose="020B0500000000000000" pitchFamily="50" charset="-128"/>
              </a:rPr>
              <a:t>、コンソール上で再現する</a:t>
            </a:r>
            <a:endParaRPr lang="en-US" altLang="ja-JP" sz="2000" dirty="0">
              <a:latin typeface="游ゴシック Medium" panose="020B0500000000000000" pitchFamily="50" charset="-128"/>
              <a:ea typeface="游ゴシック Medium" panose="020B0500000000000000" pitchFamily="50" charset="-128"/>
            </a:endParaRPr>
          </a:p>
          <a:p>
            <a:r>
              <a:rPr lang="ja-JP" altLang="en-US" sz="2000" dirty="0">
                <a:latin typeface="游ゴシック Medium" panose="020B0500000000000000" pitchFamily="50" charset="-128"/>
                <a:ea typeface="游ゴシック Medium" panose="020B0500000000000000" pitchFamily="50" charset="-128"/>
              </a:rPr>
              <a:t>プレイヤーと</a:t>
            </a:r>
            <a:r>
              <a:rPr lang="en-US" altLang="ja-JP" sz="2000" dirty="0">
                <a:latin typeface="游ゴシック Medium" panose="020B0500000000000000" pitchFamily="50" charset="-128"/>
                <a:ea typeface="游ゴシック Medium" panose="020B0500000000000000" pitchFamily="50" charset="-128"/>
              </a:rPr>
              <a:t>PC</a:t>
            </a:r>
            <a:r>
              <a:rPr lang="ja-JP" altLang="en-US" sz="2000" dirty="0">
                <a:latin typeface="游ゴシック Medium" panose="020B0500000000000000" pitchFamily="50" charset="-128"/>
                <a:ea typeface="游ゴシック Medium" panose="020B0500000000000000" pitchFamily="50" charset="-128"/>
              </a:rPr>
              <a:t>はそれぞれ先鋒・次鋒・中堅・副将・大将からなる</a:t>
            </a:r>
            <a:r>
              <a:rPr lang="en-US" altLang="ja-JP" sz="2000" dirty="0">
                <a:latin typeface="游ゴシック Medium" panose="020B0500000000000000" pitchFamily="50" charset="-128"/>
                <a:ea typeface="游ゴシック Medium" panose="020B0500000000000000" pitchFamily="50" charset="-128"/>
              </a:rPr>
              <a:t>5</a:t>
            </a:r>
            <a:r>
              <a:rPr lang="ja-JP" altLang="en-US" sz="2000" dirty="0">
                <a:latin typeface="游ゴシック Medium" panose="020B0500000000000000" pitchFamily="50" charset="-128"/>
                <a:ea typeface="游ゴシック Medium" panose="020B0500000000000000" pitchFamily="50" charset="-128"/>
              </a:rPr>
              <a:t>人組のチームである。</a:t>
            </a:r>
            <a:endParaRPr lang="en-US" altLang="ja-JP" sz="2000" dirty="0">
              <a:latin typeface="游ゴシック Medium" panose="020B0500000000000000" pitchFamily="50" charset="-128"/>
              <a:ea typeface="游ゴシック Medium" panose="020B0500000000000000" pitchFamily="50" charset="-128"/>
            </a:endParaRPr>
          </a:p>
          <a:p>
            <a:r>
              <a:rPr lang="ja-JP" altLang="en-US" sz="2000" dirty="0">
                <a:latin typeface="游ゴシック Medium" panose="020B0500000000000000" pitchFamily="50" charset="-128"/>
                <a:ea typeface="游ゴシック Medium" panose="020B0500000000000000" pitchFamily="50" charset="-128"/>
              </a:rPr>
              <a:t>先鋒から順に勝ち抜き戦を行う（先鋒</a:t>
            </a:r>
            <a:r>
              <a:rPr lang="en-US" altLang="ja-JP" sz="2000" dirty="0">
                <a:latin typeface="游ゴシック Medium" panose="020B0500000000000000" pitchFamily="50" charset="-128"/>
                <a:ea typeface="游ゴシック Medium" panose="020B0500000000000000" pitchFamily="50" charset="-128"/>
              </a:rPr>
              <a:t>VS</a:t>
            </a:r>
            <a:r>
              <a:rPr lang="ja-JP" altLang="en-US" sz="2000" dirty="0">
                <a:latin typeface="游ゴシック Medium" panose="020B0500000000000000" pitchFamily="50" charset="-128"/>
                <a:ea typeface="游ゴシック Medium" panose="020B0500000000000000" pitchFamily="50" charset="-128"/>
              </a:rPr>
              <a:t>先鋒から初め、負けたほうが次鋒以降に交代する）。</a:t>
            </a:r>
            <a:endParaRPr lang="en-US" altLang="ja-JP" sz="2000" dirty="0">
              <a:latin typeface="游ゴシック Medium" panose="020B0500000000000000" pitchFamily="50" charset="-128"/>
              <a:ea typeface="游ゴシック Medium" panose="020B0500000000000000" pitchFamily="50" charset="-128"/>
            </a:endParaRPr>
          </a:p>
          <a:p>
            <a:r>
              <a:rPr lang="ja-JP" altLang="en-US" sz="2000" dirty="0">
                <a:latin typeface="游ゴシック Medium" panose="020B0500000000000000" pitchFamily="50" charset="-128"/>
                <a:ea typeface="游ゴシック Medium" panose="020B0500000000000000" pitchFamily="50" charset="-128"/>
              </a:rPr>
              <a:t>先に大将を倒したチームを勝ちとする。</a:t>
            </a:r>
            <a:endParaRPr lang="en-US" altLang="ja-JP" sz="2000" dirty="0">
              <a:latin typeface="游ゴシック Medium" panose="020B0500000000000000" pitchFamily="50" charset="-128"/>
              <a:ea typeface="游ゴシック Medium" panose="020B0500000000000000" pitchFamily="50" charset="-128"/>
            </a:endParaRPr>
          </a:p>
          <a:p>
            <a:r>
              <a:rPr lang="ja-JP" altLang="en-US" sz="2000" dirty="0">
                <a:latin typeface="游ゴシック Medium" panose="020B0500000000000000" pitchFamily="50" charset="-128"/>
                <a:ea typeface="游ゴシック Medium" panose="020B0500000000000000" pitchFamily="50" charset="-128"/>
              </a:rPr>
              <a:t>あいこの場合はじゃんけんをやり直す。</a:t>
            </a:r>
            <a:endParaRPr lang="en-US" altLang="ja-JP" sz="2000" dirty="0">
              <a:latin typeface="游ゴシック Medium" panose="020B0500000000000000" pitchFamily="50" charset="-128"/>
              <a:ea typeface="游ゴシック Medium" panose="020B0500000000000000" pitchFamily="50" charset="-128"/>
            </a:endParaRPr>
          </a:p>
          <a:p>
            <a:r>
              <a:rPr lang="ja-JP" altLang="en-US" sz="2000" dirty="0">
                <a:latin typeface="游ゴシック Medium" panose="020B0500000000000000" pitchFamily="50" charset="-128"/>
                <a:ea typeface="游ゴシック Medium" panose="020B0500000000000000" pitchFamily="50" charset="-128"/>
              </a:rPr>
              <a:t>手を決める方法は、プレイヤーはキーボード入力、</a:t>
            </a:r>
            <a:r>
              <a:rPr lang="en-US" altLang="ja-JP" sz="2000" dirty="0">
                <a:latin typeface="游ゴシック Medium" panose="020B0500000000000000" pitchFamily="50" charset="-128"/>
                <a:ea typeface="游ゴシック Medium" panose="020B0500000000000000" pitchFamily="50" charset="-128"/>
              </a:rPr>
              <a:t>PC</a:t>
            </a:r>
            <a:r>
              <a:rPr lang="ja-JP" altLang="en-US" sz="2000" dirty="0">
                <a:latin typeface="游ゴシック Medium" panose="020B0500000000000000" pitchFamily="50" charset="-128"/>
                <a:ea typeface="游ゴシック Medium" panose="020B0500000000000000" pitchFamily="50" charset="-128"/>
              </a:rPr>
              <a:t>はランダム関数を使用する。</a:t>
            </a:r>
          </a:p>
        </p:txBody>
      </p:sp>
    </p:spTree>
    <p:extLst>
      <p:ext uri="{BB962C8B-B14F-4D97-AF65-F5344CB8AC3E}">
        <p14:creationId xmlns:p14="http://schemas.microsoft.com/office/powerpoint/2010/main" val="3884805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a:xfrm>
            <a:off x="457200" y="274638"/>
            <a:ext cx="5770984" cy="562074"/>
          </a:xfrm>
        </p:spPr>
        <p:txBody>
          <a:bodyPr>
            <a:noAutofit/>
          </a:bodyPr>
          <a:lstStyle/>
          <a:p>
            <a:pPr algn="l"/>
            <a:r>
              <a:rPr kumimoji="1" lang="ja-JP" altLang="en-US" sz="2800" dirty="0">
                <a:latin typeface="游ゴシック Medium" panose="020B0500000000000000" pitchFamily="50" charset="-128"/>
                <a:ea typeface="游ゴシック Medium" panose="020B0500000000000000" pitchFamily="50" charset="-128"/>
              </a:rPr>
              <a:t>実行結果</a:t>
            </a:r>
          </a:p>
        </p:txBody>
      </p:sp>
      <p:sp>
        <p:nvSpPr>
          <p:cNvPr id="5" name="コンテンツ プレースホルダー 6"/>
          <p:cNvSpPr txBox="1">
            <a:spLocks/>
          </p:cNvSpPr>
          <p:nvPr/>
        </p:nvSpPr>
        <p:spPr>
          <a:xfrm>
            <a:off x="467544" y="908720"/>
            <a:ext cx="4032448" cy="5688632"/>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pPr marL="0" indent="0">
              <a:buNone/>
            </a:pPr>
            <a:r>
              <a:rPr lang="en-US" altLang="ja-JP" sz="1400" dirty="0">
                <a:latin typeface="ＭＳ ゴシック" panose="020B0609070205080204" pitchFamily="49" charset="-128"/>
                <a:ea typeface="ＭＳ ゴシック" panose="020B0609070205080204" pitchFamily="49" charset="-128"/>
              </a:rPr>
              <a:t>【</a:t>
            </a:r>
            <a:r>
              <a:rPr lang="ja-JP" altLang="en-US" sz="1400" dirty="0">
                <a:latin typeface="ＭＳ ゴシック" panose="020B0609070205080204" pitchFamily="49" charset="-128"/>
                <a:ea typeface="ＭＳ ゴシック" panose="020B0609070205080204" pitchFamily="49" charset="-128"/>
              </a:rPr>
              <a:t>じゃんけん開始</a:t>
            </a:r>
            <a:r>
              <a:rPr lang="en-US" altLang="ja-JP" sz="1400" dirty="0">
                <a:latin typeface="ＭＳ ゴシック" panose="020B0609070205080204" pitchFamily="49" charset="-128"/>
                <a:ea typeface="ＭＳ ゴシック" panose="020B0609070205080204" pitchFamily="49" charset="-128"/>
              </a:rPr>
              <a:t>】</a:t>
            </a:r>
          </a:p>
          <a:p>
            <a:pPr marL="0" indent="0">
              <a:buNone/>
            </a:pPr>
            <a:r>
              <a:rPr lang="ja-JP" altLang="en-US" sz="1400" dirty="0">
                <a:latin typeface="ＭＳ ゴシック" panose="020B0609070205080204" pitchFamily="49" charset="-128"/>
                <a:ea typeface="ＭＳ ゴシック" panose="020B0609070205080204" pitchFamily="49" charset="-128"/>
              </a:rPr>
              <a:t>「プレイヤーチームと</a:t>
            </a:r>
            <a:r>
              <a:rPr lang="en-US" altLang="ja-JP" sz="1400" dirty="0">
                <a:latin typeface="ＭＳ ゴシック" panose="020B0609070205080204" pitchFamily="49" charset="-128"/>
                <a:ea typeface="ＭＳ ゴシック" panose="020B0609070205080204" pitchFamily="49" charset="-128"/>
              </a:rPr>
              <a:t>PC</a:t>
            </a:r>
            <a:r>
              <a:rPr lang="ja-JP" altLang="en-US" sz="1400" dirty="0">
                <a:latin typeface="ＭＳ ゴシック" panose="020B0609070205080204" pitchFamily="49" charset="-128"/>
                <a:ea typeface="ＭＳ ゴシック" panose="020B0609070205080204" pitchFamily="49" charset="-128"/>
              </a:rPr>
              <a:t>チームの先鋒は前へ」</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「じゃんけんの手を選択してください」</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1:</a:t>
            </a:r>
            <a:r>
              <a:rPr lang="ja-JP" altLang="en-US" sz="1400" dirty="0">
                <a:latin typeface="ＭＳ ゴシック" panose="020B0609070205080204" pitchFamily="49" charset="-128"/>
                <a:ea typeface="ＭＳ ゴシック" panose="020B0609070205080204" pitchFamily="49" charset="-128"/>
              </a:rPr>
              <a:t>グー</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2:</a:t>
            </a:r>
            <a:r>
              <a:rPr lang="ja-JP" altLang="en-US" sz="1400" dirty="0">
                <a:latin typeface="ＭＳ ゴシック" panose="020B0609070205080204" pitchFamily="49" charset="-128"/>
                <a:ea typeface="ＭＳ ゴシック" panose="020B0609070205080204" pitchFamily="49" charset="-128"/>
              </a:rPr>
              <a:t>チョキ</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3:</a:t>
            </a:r>
            <a:r>
              <a:rPr lang="ja-JP" altLang="en-US" sz="1400" dirty="0">
                <a:latin typeface="ＭＳ ゴシック" panose="020B0609070205080204" pitchFamily="49" charset="-128"/>
                <a:ea typeface="ＭＳ ゴシック" panose="020B0609070205080204" pitchFamily="49" charset="-128"/>
              </a:rPr>
              <a:t>パー</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a:t>
            </a:r>
            <a:r>
              <a:rPr lang="en-US" altLang="ja-JP" sz="1400" dirty="0">
                <a:latin typeface="ＭＳ ゴシック" panose="020B0609070205080204" pitchFamily="49" charset="-128"/>
                <a:ea typeface="ＭＳ ゴシック" panose="020B0609070205080204" pitchFamily="49" charset="-128"/>
              </a:rPr>
              <a:t>1</a:t>
            </a:r>
          </a:p>
          <a:p>
            <a:pPr marL="0" indent="0">
              <a:buNone/>
            </a:pPr>
            <a:r>
              <a:rPr lang="en-US" altLang="ja-JP" sz="1400" dirty="0">
                <a:latin typeface="ＭＳ ゴシック" panose="020B0609070205080204" pitchFamily="49" charset="-128"/>
                <a:ea typeface="ＭＳ ゴシック" panose="020B0609070205080204" pitchFamily="49" charset="-128"/>
              </a:rPr>
              <a:t>【</a:t>
            </a:r>
            <a:r>
              <a:rPr lang="ja-JP" altLang="en-US" sz="1400" dirty="0">
                <a:latin typeface="ＭＳ ゴシック" panose="020B0609070205080204" pitchFamily="49" charset="-128"/>
                <a:ea typeface="ＭＳ ゴシック" panose="020B0609070205080204" pitchFamily="49" charset="-128"/>
              </a:rPr>
              <a:t>先鋒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先鋒 戦</a:t>
            </a:r>
            <a:r>
              <a:rPr lang="en-US" altLang="ja-JP" sz="1400" dirty="0">
                <a:latin typeface="ＭＳ ゴシック" panose="020B0609070205080204" pitchFamily="49" charset="-128"/>
                <a:ea typeface="ＭＳ ゴシック" panose="020B0609070205080204" pitchFamily="49" charset="-128"/>
              </a:rPr>
              <a:t>】</a:t>
            </a:r>
          </a:p>
          <a:p>
            <a:pPr marL="0" indent="0">
              <a:buNone/>
            </a:pPr>
            <a:r>
              <a:rPr lang="ja-JP" altLang="en-US" sz="1400" dirty="0">
                <a:latin typeface="ＭＳ ゴシック" panose="020B0609070205080204" pitchFamily="49" charset="-128"/>
                <a:ea typeface="ＭＳ ゴシック" panose="020B0609070205080204" pitchFamily="49" charset="-128"/>
              </a:rPr>
              <a:t>グー </a:t>
            </a:r>
            <a:r>
              <a:rPr lang="en-US" altLang="ja-JP" sz="1400" dirty="0">
                <a:latin typeface="ＭＳ ゴシック" panose="020B0609070205080204" pitchFamily="49" charset="-128"/>
                <a:ea typeface="ＭＳ ゴシック" panose="020B0609070205080204" pitchFamily="49" charset="-128"/>
              </a:rPr>
              <a:t>vs </a:t>
            </a:r>
            <a:r>
              <a:rPr lang="ja-JP" altLang="en-US" sz="1400" dirty="0">
                <a:latin typeface="ＭＳ ゴシック" panose="020B0609070205080204" pitchFamily="49" charset="-128"/>
                <a:ea typeface="ＭＳ ゴシック" panose="020B0609070205080204" pitchFamily="49" charset="-128"/>
              </a:rPr>
              <a:t>チョキ</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プレイヤーが勝ちました！</a:t>
            </a:r>
            <a:endParaRPr lang="en-US" altLang="ja-JP" sz="1400" dirty="0">
              <a:latin typeface="ＭＳ ゴシック" panose="020B0609070205080204" pitchFamily="49" charset="-128"/>
              <a:ea typeface="ＭＳ ゴシック" panose="020B0609070205080204" pitchFamily="49" charset="-128"/>
            </a:endParaRPr>
          </a:p>
          <a:p>
            <a:pPr marL="0" indent="0">
              <a:buNone/>
            </a:pP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a:t>
            </a:r>
            <a:r>
              <a:rPr lang="en-US" altLang="ja-JP" sz="1400" dirty="0">
                <a:latin typeface="ＭＳ ゴシック" panose="020B0609070205080204" pitchFamily="49" charset="-128"/>
                <a:ea typeface="ＭＳ ゴシック" panose="020B0609070205080204" pitchFamily="49" charset="-128"/>
              </a:rPr>
              <a:t>PC</a:t>
            </a:r>
            <a:r>
              <a:rPr lang="ja-JP" altLang="en-US" sz="1400" dirty="0">
                <a:latin typeface="ＭＳ ゴシック" panose="020B0609070205080204" pitchFamily="49" charset="-128"/>
                <a:ea typeface="ＭＳ ゴシック" panose="020B0609070205080204" pitchFamily="49" charset="-128"/>
              </a:rPr>
              <a:t>チームの次鋒は前へ」</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「じゃんけんの手を選択してください」</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1:</a:t>
            </a:r>
            <a:r>
              <a:rPr lang="ja-JP" altLang="en-US" sz="1400" dirty="0">
                <a:latin typeface="ＭＳ ゴシック" panose="020B0609070205080204" pitchFamily="49" charset="-128"/>
                <a:ea typeface="ＭＳ ゴシック" panose="020B0609070205080204" pitchFamily="49" charset="-128"/>
              </a:rPr>
              <a:t>グー</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2:</a:t>
            </a:r>
            <a:r>
              <a:rPr lang="ja-JP" altLang="en-US" sz="1400" dirty="0">
                <a:latin typeface="ＭＳ ゴシック" panose="020B0609070205080204" pitchFamily="49" charset="-128"/>
                <a:ea typeface="ＭＳ ゴシック" panose="020B0609070205080204" pitchFamily="49" charset="-128"/>
              </a:rPr>
              <a:t>チョキ</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3:</a:t>
            </a:r>
            <a:r>
              <a:rPr lang="ja-JP" altLang="en-US" sz="1400" dirty="0">
                <a:latin typeface="ＭＳ ゴシック" panose="020B0609070205080204" pitchFamily="49" charset="-128"/>
                <a:ea typeface="ＭＳ ゴシック" panose="020B0609070205080204" pitchFamily="49" charset="-128"/>
              </a:rPr>
              <a:t>パー</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a:t>
            </a:r>
            <a:r>
              <a:rPr lang="en-US" altLang="ja-JP" sz="1400" dirty="0">
                <a:latin typeface="ＭＳ ゴシック" panose="020B0609070205080204" pitchFamily="49" charset="-128"/>
                <a:ea typeface="ＭＳ ゴシック" panose="020B0609070205080204" pitchFamily="49" charset="-128"/>
              </a:rPr>
              <a:t>2</a:t>
            </a:r>
          </a:p>
          <a:p>
            <a:pPr marL="0" indent="0">
              <a:buNone/>
            </a:pPr>
            <a:r>
              <a:rPr lang="en-US" altLang="ja-JP" sz="1400" dirty="0">
                <a:latin typeface="ＭＳ ゴシック" panose="020B0609070205080204" pitchFamily="49" charset="-128"/>
                <a:ea typeface="ＭＳ ゴシック" panose="020B0609070205080204" pitchFamily="49" charset="-128"/>
              </a:rPr>
              <a:t>【</a:t>
            </a:r>
            <a:r>
              <a:rPr lang="ja-JP" altLang="en-US" sz="1400" dirty="0">
                <a:latin typeface="ＭＳ ゴシック" panose="020B0609070205080204" pitchFamily="49" charset="-128"/>
                <a:ea typeface="ＭＳ ゴシック" panose="020B0609070205080204" pitchFamily="49" charset="-128"/>
              </a:rPr>
              <a:t>先鋒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次鋒 戦</a:t>
            </a:r>
            <a:r>
              <a:rPr lang="en-US" altLang="ja-JP" sz="1400" dirty="0">
                <a:latin typeface="ＭＳ ゴシック" panose="020B0609070205080204" pitchFamily="49" charset="-128"/>
                <a:ea typeface="ＭＳ ゴシック" panose="020B0609070205080204" pitchFamily="49" charset="-128"/>
              </a:rPr>
              <a:t>】</a:t>
            </a:r>
          </a:p>
          <a:p>
            <a:pPr marL="0" indent="0">
              <a:buNone/>
            </a:pPr>
            <a:r>
              <a:rPr lang="ja-JP" altLang="en-US" sz="1400" dirty="0">
                <a:latin typeface="ＭＳ ゴシック" panose="020B0609070205080204" pitchFamily="49" charset="-128"/>
                <a:ea typeface="ＭＳ ゴシック" panose="020B0609070205080204" pitchFamily="49" charset="-128"/>
              </a:rPr>
              <a:t>チョキ </a:t>
            </a:r>
            <a:r>
              <a:rPr lang="en-US" altLang="ja-JP" sz="1400" dirty="0">
                <a:latin typeface="ＭＳ ゴシック" panose="020B0609070205080204" pitchFamily="49" charset="-128"/>
                <a:ea typeface="ＭＳ ゴシック" panose="020B0609070205080204" pitchFamily="49" charset="-128"/>
              </a:rPr>
              <a:t>vs </a:t>
            </a:r>
            <a:r>
              <a:rPr lang="ja-JP" altLang="en-US" sz="1400" dirty="0">
                <a:latin typeface="ＭＳ ゴシック" panose="020B0609070205080204" pitchFamily="49" charset="-128"/>
                <a:ea typeface="ＭＳ ゴシック" panose="020B0609070205080204" pitchFamily="49" charset="-128"/>
              </a:rPr>
              <a:t>チョキ</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引き分けです！</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（右へ続く）</a:t>
            </a:r>
            <a:endParaRPr lang="en-US" altLang="ja-JP" sz="1400" dirty="0">
              <a:latin typeface="ＭＳ ゴシック" panose="020B0609070205080204" pitchFamily="49" charset="-128"/>
              <a:ea typeface="ＭＳ ゴシック" panose="020B0609070205080204" pitchFamily="49" charset="-128"/>
            </a:endParaRPr>
          </a:p>
          <a:p>
            <a:pPr marL="0" indent="0">
              <a:buNone/>
            </a:pPr>
            <a:endParaRPr lang="ja-JP" altLang="en-US" sz="2000" dirty="0">
              <a:latin typeface="ＭＳ ゴシック" panose="020B0609070205080204" pitchFamily="49" charset="-128"/>
              <a:ea typeface="ＭＳ ゴシック" panose="020B0609070205080204" pitchFamily="49" charset="-128"/>
            </a:endParaRPr>
          </a:p>
        </p:txBody>
      </p:sp>
      <p:sp>
        <p:nvSpPr>
          <p:cNvPr id="8" name="コンテンツ プレースホルダー 6"/>
          <p:cNvSpPr txBox="1">
            <a:spLocks/>
          </p:cNvSpPr>
          <p:nvPr/>
        </p:nvSpPr>
        <p:spPr>
          <a:xfrm>
            <a:off x="4788024" y="908720"/>
            <a:ext cx="4032448" cy="5688632"/>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pPr marL="0" indent="0">
              <a:buNone/>
            </a:pPr>
            <a:r>
              <a:rPr lang="ja-JP" altLang="en-US" sz="1400" dirty="0">
                <a:latin typeface="ＭＳ ゴシック" panose="020B0609070205080204" pitchFamily="49" charset="-128"/>
                <a:ea typeface="ＭＳ ゴシック" panose="020B0609070205080204" pitchFamily="49" charset="-128"/>
              </a:rPr>
              <a:t>「じゃんけんの手を選択してください」</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1:</a:t>
            </a:r>
            <a:r>
              <a:rPr lang="ja-JP" altLang="en-US" sz="1400" dirty="0">
                <a:latin typeface="ＭＳ ゴシック" panose="020B0609070205080204" pitchFamily="49" charset="-128"/>
                <a:ea typeface="ＭＳ ゴシック" panose="020B0609070205080204" pitchFamily="49" charset="-128"/>
              </a:rPr>
              <a:t>グー</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2:</a:t>
            </a:r>
            <a:r>
              <a:rPr lang="ja-JP" altLang="en-US" sz="1400" dirty="0">
                <a:latin typeface="ＭＳ ゴシック" panose="020B0609070205080204" pitchFamily="49" charset="-128"/>
                <a:ea typeface="ＭＳ ゴシック" panose="020B0609070205080204" pitchFamily="49" charset="-128"/>
              </a:rPr>
              <a:t>チョキ</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3:</a:t>
            </a:r>
            <a:r>
              <a:rPr lang="ja-JP" altLang="en-US" sz="1400" dirty="0">
                <a:latin typeface="ＭＳ ゴシック" panose="020B0609070205080204" pitchFamily="49" charset="-128"/>
                <a:ea typeface="ＭＳ ゴシック" panose="020B0609070205080204" pitchFamily="49" charset="-128"/>
              </a:rPr>
              <a:t>パー</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a:t>
            </a:r>
            <a:r>
              <a:rPr lang="en-US" altLang="ja-JP" sz="1400" dirty="0">
                <a:latin typeface="ＭＳ ゴシック" panose="020B0609070205080204" pitchFamily="49" charset="-128"/>
                <a:ea typeface="ＭＳ ゴシック" panose="020B0609070205080204" pitchFamily="49" charset="-128"/>
              </a:rPr>
              <a:t>3</a:t>
            </a:r>
          </a:p>
          <a:p>
            <a:pPr marL="0" indent="0">
              <a:buNone/>
            </a:pPr>
            <a:r>
              <a:rPr lang="en-US" altLang="ja-JP" sz="1400" dirty="0">
                <a:latin typeface="ＭＳ ゴシック" panose="020B0609070205080204" pitchFamily="49" charset="-128"/>
                <a:ea typeface="ＭＳ ゴシック" panose="020B0609070205080204" pitchFamily="49" charset="-128"/>
              </a:rPr>
              <a:t>【</a:t>
            </a:r>
            <a:r>
              <a:rPr lang="ja-JP" altLang="en-US" sz="1400" dirty="0">
                <a:latin typeface="ＭＳ ゴシック" panose="020B0609070205080204" pitchFamily="49" charset="-128"/>
                <a:ea typeface="ＭＳ ゴシック" panose="020B0609070205080204" pitchFamily="49" charset="-128"/>
              </a:rPr>
              <a:t>先鋒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次鋒 戦</a:t>
            </a:r>
            <a:r>
              <a:rPr lang="en-US" altLang="ja-JP" sz="1400" dirty="0">
                <a:latin typeface="ＭＳ ゴシック" panose="020B0609070205080204" pitchFamily="49" charset="-128"/>
                <a:ea typeface="ＭＳ ゴシック" panose="020B0609070205080204" pitchFamily="49" charset="-128"/>
              </a:rPr>
              <a:t>】</a:t>
            </a:r>
          </a:p>
          <a:p>
            <a:pPr marL="0" indent="0">
              <a:buNone/>
            </a:pPr>
            <a:r>
              <a:rPr lang="ja-JP" altLang="en-US" sz="1400" dirty="0">
                <a:latin typeface="ＭＳ ゴシック" panose="020B0609070205080204" pitchFamily="49" charset="-128"/>
                <a:ea typeface="ＭＳ ゴシック" panose="020B0609070205080204" pitchFamily="49" charset="-128"/>
              </a:rPr>
              <a:t>パー </a:t>
            </a:r>
            <a:r>
              <a:rPr lang="en-US" altLang="ja-JP" sz="1400" dirty="0">
                <a:latin typeface="ＭＳ ゴシック" panose="020B0609070205080204" pitchFamily="49" charset="-128"/>
                <a:ea typeface="ＭＳ ゴシック" panose="020B0609070205080204" pitchFamily="49" charset="-128"/>
              </a:rPr>
              <a:t>vs </a:t>
            </a:r>
            <a:r>
              <a:rPr lang="ja-JP" altLang="en-US" sz="1400" dirty="0">
                <a:latin typeface="ＭＳ ゴシック" panose="020B0609070205080204" pitchFamily="49" charset="-128"/>
                <a:ea typeface="ＭＳ ゴシック" panose="020B0609070205080204" pitchFamily="49" charset="-128"/>
              </a:rPr>
              <a:t>チョキ</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PC</a:t>
            </a:r>
            <a:r>
              <a:rPr lang="ja-JP" altLang="en-US" sz="1400" dirty="0">
                <a:latin typeface="ＭＳ ゴシック" panose="020B0609070205080204" pitchFamily="49" charset="-128"/>
                <a:ea typeface="ＭＳ ゴシック" panose="020B0609070205080204" pitchFamily="49" charset="-128"/>
              </a:rPr>
              <a:t>が勝ちました！</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（～中略～）</a:t>
            </a:r>
            <a:endParaRPr lang="en-US" altLang="ja-JP" sz="1400" dirty="0">
              <a:latin typeface="ＭＳ ゴシック" panose="020B0609070205080204" pitchFamily="49" charset="-128"/>
              <a:ea typeface="ＭＳ ゴシック" panose="020B0609070205080204" pitchFamily="49" charset="-128"/>
            </a:endParaRPr>
          </a:p>
          <a:p>
            <a:pPr marL="0" indent="0">
              <a:buNone/>
            </a:pP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a:t>
            </a:r>
            <a:r>
              <a:rPr lang="en-US" altLang="ja-JP" sz="1400" dirty="0">
                <a:latin typeface="ＭＳ ゴシック" panose="020B0609070205080204" pitchFamily="49" charset="-128"/>
                <a:ea typeface="ＭＳ ゴシック" panose="020B0609070205080204" pitchFamily="49" charset="-128"/>
              </a:rPr>
              <a:t>PC</a:t>
            </a:r>
            <a:r>
              <a:rPr lang="ja-JP" altLang="en-US" sz="1400" dirty="0">
                <a:latin typeface="ＭＳ ゴシック" panose="020B0609070205080204" pitchFamily="49" charset="-128"/>
                <a:ea typeface="ＭＳ ゴシック" panose="020B0609070205080204" pitchFamily="49" charset="-128"/>
              </a:rPr>
              <a:t>チームの大将は前へ」</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「じゃんけんの手を選択</a:t>
            </a:r>
            <a:r>
              <a:rPr lang="ja-JP" altLang="en-US" sz="1400">
                <a:latin typeface="ＭＳ ゴシック" panose="020B0609070205080204" pitchFamily="49" charset="-128"/>
                <a:ea typeface="ＭＳ ゴシック" panose="020B0609070205080204" pitchFamily="49" charset="-128"/>
              </a:rPr>
              <a:t>してください」</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1:</a:t>
            </a:r>
            <a:r>
              <a:rPr lang="ja-JP" altLang="en-US" sz="1400" dirty="0">
                <a:latin typeface="ＭＳ ゴシック" panose="020B0609070205080204" pitchFamily="49" charset="-128"/>
                <a:ea typeface="ＭＳ ゴシック" panose="020B0609070205080204" pitchFamily="49" charset="-128"/>
              </a:rPr>
              <a:t>グー</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2:</a:t>
            </a:r>
            <a:r>
              <a:rPr lang="ja-JP" altLang="en-US" sz="1400" dirty="0">
                <a:latin typeface="ＭＳ ゴシック" panose="020B0609070205080204" pitchFamily="49" charset="-128"/>
                <a:ea typeface="ＭＳ ゴシック" panose="020B0609070205080204" pitchFamily="49" charset="-128"/>
              </a:rPr>
              <a:t>チョキ</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3:</a:t>
            </a:r>
            <a:r>
              <a:rPr lang="ja-JP" altLang="en-US" sz="1400" dirty="0">
                <a:latin typeface="ＭＳ ゴシック" panose="020B0609070205080204" pitchFamily="49" charset="-128"/>
                <a:ea typeface="ＭＳ ゴシック" panose="020B0609070205080204" pitchFamily="49" charset="-128"/>
              </a:rPr>
              <a:t>パー</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a:t>
            </a:r>
            <a:r>
              <a:rPr lang="en-US" altLang="ja-JP" sz="1400" dirty="0">
                <a:latin typeface="ＭＳ ゴシック" panose="020B0609070205080204" pitchFamily="49" charset="-128"/>
                <a:ea typeface="ＭＳ ゴシック" panose="020B0609070205080204" pitchFamily="49" charset="-128"/>
              </a:rPr>
              <a:t>3</a:t>
            </a:r>
          </a:p>
          <a:p>
            <a:pPr marL="0" indent="0">
              <a:buNone/>
            </a:pPr>
            <a:r>
              <a:rPr lang="en-US" altLang="ja-JP" sz="1400" dirty="0">
                <a:latin typeface="ＭＳ ゴシック" panose="020B0609070205080204" pitchFamily="49" charset="-128"/>
                <a:ea typeface="ＭＳ ゴシック" panose="020B0609070205080204" pitchFamily="49" charset="-128"/>
              </a:rPr>
              <a:t>【</a:t>
            </a:r>
            <a:r>
              <a:rPr lang="ja-JP" altLang="en-US" sz="1400" dirty="0">
                <a:latin typeface="ＭＳ ゴシック" panose="020B0609070205080204" pitchFamily="49" charset="-128"/>
                <a:ea typeface="ＭＳ ゴシック" panose="020B0609070205080204" pitchFamily="49" charset="-128"/>
              </a:rPr>
              <a:t>次鋒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大将 戦</a:t>
            </a:r>
            <a:r>
              <a:rPr lang="en-US" altLang="ja-JP" sz="1400" dirty="0">
                <a:latin typeface="ＭＳ ゴシック" panose="020B0609070205080204" pitchFamily="49" charset="-128"/>
                <a:ea typeface="ＭＳ ゴシック" panose="020B0609070205080204" pitchFamily="49" charset="-128"/>
              </a:rPr>
              <a:t>】</a:t>
            </a:r>
          </a:p>
          <a:p>
            <a:pPr marL="0" indent="0">
              <a:buNone/>
            </a:pPr>
            <a:r>
              <a:rPr lang="ja-JP" altLang="en-US" sz="1400" dirty="0">
                <a:latin typeface="ＭＳ ゴシック" panose="020B0609070205080204" pitchFamily="49" charset="-128"/>
                <a:ea typeface="ＭＳ ゴシック" panose="020B0609070205080204" pitchFamily="49" charset="-128"/>
              </a:rPr>
              <a:t>パー </a:t>
            </a:r>
            <a:r>
              <a:rPr lang="en-US" altLang="ja-JP" sz="1400" dirty="0">
                <a:latin typeface="ＭＳ ゴシック" panose="020B0609070205080204" pitchFamily="49" charset="-128"/>
                <a:ea typeface="ＭＳ ゴシック" panose="020B0609070205080204" pitchFamily="49" charset="-128"/>
              </a:rPr>
              <a:t>vs </a:t>
            </a:r>
            <a:r>
              <a:rPr lang="ja-JP" altLang="en-US" sz="1400" dirty="0">
                <a:latin typeface="ＭＳ ゴシック" panose="020B0609070205080204" pitchFamily="49" charset="-128"/>
                <a:ea typeface="ＭＳ ゴシック" panose="020B0609070205080204" pitchFamily="49" charset="-128"/>
              </a:rPr>
              <a:t>グー</a:t>
            </a: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ja-JP" altLang="en-US" sz="1400" dirty="0">
                <a:latin typeface="ＭＳ ゴシック" panose="020B0609070205080204" pitchFamily="49" charset="-128"/>
                <a:ea typeface="ＭＳ ゴシック" panose="020B0609070205080204" pitchFamily="49" charset="-128"/>
              </a:rPr>
              <a:t>プレイヤーが勝ちました！</a:t>
            </a:r>
            <a:endParaRPr lang="en-US" altLang="ja-JP" sz="1400" dirty="0">
              <a:latin typeface="ＭＳ ゴシック" panose="020B0609070205080204" pitchFamily="49" charset="-128"/>
              <a:ea typeface="ＭＳ ゴシック" panose="020B0609070205080204" pitchFamily="49" charset="-128"/>
            </a:endParaRPr>
          </a:p>
          <a:p>
            <a:pPr marL="0" indent="0">
              <a:buNone/>
            </a:pPr>
            <a:endParaRPr lang="en-US" altLang="ja-JP" sz="1400" dirty="0">
              <a:latin typeface="ＭＳ ゴシック" panose="020B0609070205080204" pitchFamily="49" charset="-128"/>
              <a:ea typeface="ＭＳ ゴシック" panose="020B0609070205080204" pitchFamily="49" charset="-128"/>
            </a:endParaRPr>
          </a:p>
          <a:p>
            <a:pPr marL="0" indent="0">
              <a:buNone/>
            </a:pPr>
            <a:r>
              <a:rPr lang="en-US" altLang="ja-JP" sz="1400" dirty="0">
                <a:latin typeface="ＭＳ ゴシック" panose="020B0609070205080204" pitchFamily="49" charset="-128"/>
                <a:ea typeface="ＭＳ ゴシック" panose="020B0609070205080204" pitchFamily="49" charset="-128"/>
              </a:rPr>
              <a:t>【</a:t>
            </a:r>
            <a:r>
              <a:rPr lang="ja-JP" altLang="en-US" sz="1400" dirty="0">
                <a:latin typeface="ＭＳ ゴシック" panose="020B0609070205080204" pitchFamily="49" charset="-128"/>
                <a:ea typeface="ＭＳ ゴシック" panose="020B0609070205080204" pitchFamily="49" charset="-128"/>
              </a:rPr>
              <a:t>じゃんけん終了</a:t>
            </a:r>
            <a:r>
              <a:rPr lang="en-US" altLang="ja-JP" sz="1400" dirty="0">
                <a:latin typeface="ＭＳ ゴシック" panose="020B0609070205080204" pitchFamily="49" charset="-128"/>
                <a:ea typeface="ＭＳ ゴシック" panose="020B0609070205080204" pitchFamily="49" charset="-128"/>
              </a:rPr>
              <a:t>】</a:t>
            </a:r>
          </a:p>
          <a:p>
            <a:pPr marL="0" indent="0">
              <a:buNone/>
            </a:pPr>
            <a:r>
              <a:rPr lang="ja-JP" altLang="en-US" sz="1400" dirty="0">
                <a:latin typeface="ＭＳ ゴシック" panose="020B0609070205080204" pitchFamily="49" charset="-128"/>
                <a:ea typeface="ＭＳ ゴシック" panose="020B0609070205080204" pitchFamily="49" charset="-128"/>
              </a:rPr>
              <a:t>プレイヤーチームの勝ちです！</a:t>
            </a:r>
            <a:endParaRPr lang="ja-JP" altLang="en-US" sz="20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175038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a:xfrm>
            <a:off x="457200" y="274638"/>
            <a:ext cx="5770984" cy="562074"/>
          </a:xfrm>
        </p:spPr>
        <p:txBody>
          <a:bodyPr>
            <a:noAutofit/>
          </a:bodyPr>
          <a:lstStyle/>
          <a:p>
            <a:pPr algn="l"/>
            <a:r>
              <a:rPr lang="ja-JP" altLang="en-US" sz="2800" dirty="0">
                <a:latin typeface="游ゴシック Medium" panose="020B0500000000000000" pitchFamily="50" charset="-128"/>
                <a:ea typeface="游ゴシック Medium" panose="020B0500000000000000" pitchFamily="50" charset="-128"/>
              </a:rPr>
              <a:t>プログラミングの流れ</a:t>
            </a:r>
            <a:endParaRPr kumimoji="1" lang="ja-JP" altLang="en-US" sz="2800" dirty="0">
              <a:latin typeface="游ゴシック Medium" panose="020B0500000000000000" pitchFamily="50" charset="-128"/>
              <a:ea typeface="游ゴシック Medium" panose="020B0500000000000000" pitchFamily="50" charset="-128"/>
            </a:endParaRPr>
          </a:p>
        </p:txBody>
      </p:sp>
      <p:sp>
        <p:nvSpPr>
          <p:cNvPr id="7" name="コンテンツ プレースホルダー 6"/>
          <p:cNvSpPr>
            <a:spLocks noGrp="1"/>
          </p:cNvSpPr>
          <p:nvPr>
            <p:ph idx="1"/>
          </p:nvPr>
        </p:nvSpPr>
        <p:spPr>
          <a:xfrm>
            <a:off x="457200" y="1052736"/>
            <a:ext cx="8147248" cy="5328591"/>
          </a:xfrm>
        </p:spPr>
        <p:style>
          <a:lnRef idx="2">
            <a:schemeClr val="accent1"/>
          </a:lnRef>
          <a:fillRef idx="1">
            <a:schemeClr val="lt1"/>
          </a:fillRef>
          <a:effectRef idx="0">
            <a:schemeClr val="accent1"/>
          </a:effectRef>
          <a:fontRef idx="minor">
            <a:schemeClr val="dk1"/>
          </a:fontRef>
        </p:style>
        <p:txBody>
          <a:bodyPr>
            <a:normAutofit/>
          </a:bodyPr>
          <a:lstStyle/>
          <a:p>
            <a:r>
              <a:rPr kumimoji="1" lang="ja-JP" altLang="en-US" sz="2400" dirty="0">
                <a:latin typeface="游ゴシック Medium" panose="020B0500000000000000" pitchFamily="50" charset="-128"/>
                <a:ea typeface="游ゴシック Medium" panose="020B0500000000000000" pitchFamily="50" charset="-128"/>
              </a:rPr>
              <a:t>いきなりコードを書き始めるのではなく、プログラムに必要な処理や部品を洗い出すことから始めると良いでしょう</a:t>
            </a:r>
            <a:endParaRPr kumimoji="1" lang="en-US" altLang="ja-JP" sz="2400" dirty="0">
              <a:latin typeface="游ゴシック Medium" panose="020B0500000000000000" pitchFamily="50" charset="-128"/>
              <a:ea typeface="游ゴシック Medium" panose="020B0500000000000000" pitchFamily="50" charset="-128"/>
            </a:endParaRPr>
          </a:p>
          <a:p>
            <a:pPr lvl="1"/>
            <a:r>
              <a:rPr lang="ja-JP" altLang="en-US" sz="2000" dirty="0">
                <a:latin typeface="游ゴシック Medium" panose="020B0500000000000000" pitchFamily="50" charset="-128"/>
                <a:ea typeface="游ゴシック Medium" panose="020B0500000000000000" pitchFamily="50" charset="-128"/>
              </a:rPr>
              <a:t>例</a:t>
            </a:r>
            <a:endParaRPr kumimoji="1" lang="en-US" altLang="ja-JP" sz="2000" dirty="0">
              <a:latin typeface="游ゴシック Medium" panose="020B0500000000000000" pitchFamily="50" charset="-128"/>
              <a:ea typeface="游ゴシック Medium" panose="020B0500000000000000" pitchFamily="50" charset="-128"/>
            </a:endParaRPr>
          </a:p>
          <a:p>
            <a:pPr lvl="2"/>
            <a:r>
              <a:rPr lang="ja-JP" altLang="en-US" sz="1600" dirty="0">
                <a:latin typeface="游ゴシック Medium" panose="020B0500000000000000" pitchFamily="50" charset="-128"/>
                <a:ea typeface="游ゴシック Medium" panose="020B0500000000000000" pitchFamily="50" charset="-128"/>
              </a:rPr>
              <a:t>グー、チョキ、パーは定数として必要</a:t>
            </a:r>
            <a:endParaRPr lang="en-US" altLang="ja-JP" sz="1600" dirty="0">
              <a:latin typeface="游ゴシック Medium" panose="020B0500000000000000" pitchFamily="50" charset="-128"/>
              <a:ea typeface="游ゴシック Medium" panose="020B0500000000000000" pitchFamily="50" charset="-128"/>
            </a:endParaRPr>
          </a:p>
          <a:p>
            <a:pPr lvl="2"/>
            <a:r>
              <a:rPr kumimoji="1" lang="ja-JP" altLang="en-US" sz="1600" dirty="0">
                <a:latin typeface="游ゴシック Medium" panose="020B0500000000000000" pitchFamily="50" charset="-128"/>
                <a:ea typeface="游ゴシック Medium" panose="020B0500000000000000" pitchFamily="50" charset="-128"/>
              </a:rPr>
              <a:t>先鋒、次鋒・・・も定数にできそう</a:t>
            </a:r>
            <a:endParaRPr kumimoji="1" lang="en-US" altLang="ja-JP" sz="1600" dirty="0">
              <a:latin typeface="游ゴシック Medium" panose="020B0500000000000000" pitchFamily="50" charset="-128"/>
              <a:ea typeface="游ゴシック Medium" panose="020B0500000000000000" pitchFamily="50" charset="-128"/>
            </a:endParaRPr>
          </a:p>
          <a:p>
            <a:pPr lvl="2"/>
            <a:r>
              <a:rPr lang="ja-JP" altLang="en-US" sz="1600" dirty="0">
                <a:latin typeface="游ゴシック Medium" panose="020B0500000000000000" pitchFamily="50" charset="-128"/>
                <a:ea typeface="游ゴシック Medium" panose="020B0500000000000000" pitchFamily="50" charset="-128"/>
              </a:rPr>
              <a:t>メッセージも定数にできそう</a:t>
            </a:r>
            <a:endParaRPr kumimoji="1" lang="en-US" altLang="ja-JP" sz="1600" dirty="0">
              <a:latin typeface="游ゴシック Medium" panose="020B0500000000000000" pitchFamily="50" charset="-128"/>
              <a:ea typeface="游ゴシック Medium" panose="020B0500000000000000" pitchFamily="50" charset="-128"/>
            </a:endParaRPr>
          </a:p>
          <a:p>
            <a:pPr lvl="2"/>
            <a:r>
              <a:rPr lang="ja-JP" altLang="en-US" sz="1600" dirty="0">
                <a:latin typeface="游ゴシック Medium" panose="020B0500000000000000" pitchFamily="50" charset="-128"/>
                <a:ea typeface="游ゴシック Medium" panose="020B0500000000000000" pitchFamily="50" charset="-128"/>
              </a:rPr>
              <a:t>配列として扱えるデータはなにか</a:t>
            </a:r>
            <a:endParaRPr lang="en-US" altLang="ja-JP" sz="1600" dirty="0">
              <a:latin typeface="游ゴシック Medium" panose="020B0500000000000000" pitchFamily="50" charset="-128"/>
              <a:ea typeface="游ゴシック Medium" panose="020B0500000000000000" pitchFamily="50" charset="-128"/>
            </a:endParaRPr>
          </a:p>
          <a:p>
            <a:pPr lvl="2"/>
            <a:r>
              <a:rPr kumimoji="1" lang="ja-JP" altLang="en-US" sz="1600" dirty="0">
                <a:latin typeface="游ゴシック Medium" panose="020B0500000000000000" pitchFamily="50" charset="-128"/>
                <a:ea typeface="游ゴシック Medium" panose="020B0500000000000000" pitchFamily="50" charset="-128"/>
              </a:rPr>
              <a:t>繰り返す必要のある処理はなにか</a:t>
            </a:r>
            <a:endParaRPr lang="en-US" altLang="ja-JP" sz="1600" dirty="0">
              <a:latin typeface="游ゴシック Medium" panose="020B0500000000000000" pitchFamily="50" charset="-128"/>
              <a:ea typeface="游ゴシック Medium" panose="020B0500000000000000" pitchFamily="50" charset="-128"/>
            </a:endParaRPr>
          </a:p>
          <a:p>
            <a:r>
              <a:rPr kumimoji="1" lang="ja-JP" altLang="en-US" sz="2400" dirty="0">
                <a:latin typeface="游ゴシック Medium" panose="020B0500000000000000" pitchFamily="50" charset="-128"/>
                <a:ea typeface="游ゴシック Medium" panose="020B0500000000000000" pitchFamily="50" charset="-128"/>
              </a:rPr>
              <a:t>プログラム中の処理はセクション分けをして整理すると考えやすくなります</a:t>
            </a:r>
            <a:endParaRPr kumimoji="1" lang="en-US" altLang="ja-JP" sz="2400" dirty="0">
              <a:latin typeface="游ゴシック Medium" panose="020B0500000000000000" pitchFamily="50" charset="-128"/>
              <a:ea typeface="游ゴシック Medium" panose="020B0500000000000000" pitchFamily="50" charset="-128"/>
            </a:endParaRPr>
          </a:p>
          <a:p>
            <a:pPr lvl="1"/>
            <a:r>
              <a:rPr kumimoji="1" lang="ja-JP" altLang="en-US" sz="2000" dirty="0">
                <a:latin typeface="游ゴシック Medium" panose="020B0500000000000000" pitchFamily="50" charset="-128"/>
                <a:ea typeface="游ゴシック Medium" panose="020B0500000000000000" pitchFamily="50" charset="-128"/>
              </a:rPr>
              <a:t>例</a:t>
            </a:r>
            <a:endParaRPr kumimoji="1" lang="en-US" altLang="ja-JP" sz="2000" dirty="0">
              <a:latin typeface="游ゴシック Medium" panose="020B0500000000000000" pitchFamily="50" charset="-128"/>
              <a:ea typeface="游ゴシック Medium" panose="020B0500000000000000" pitchFamily="50" charset="-128"/>
            </a:endParaRPr>
          </a:p>
          <a:p>
            <a:pPr lvl="2"/>
            <a:r>
              <a:rPr lang="ja-JP" altLang="en-US" sz="1600" dirty="0">
                <a:latin typeface="游ゴシック Medium" panose="020B0500000000000000" pitchFamily="50" charset="-128"/>
                <a:ea typeface="游ゴシック Medium" panose="020B0500000000000000" pitchFamily="50" charset="-128"/>
              </a:rPr>
              <a:t>手を入力する処理</a:t>
            </a:r>
            <a:endParaRPr lang="en-US" altLang="ja-JP" sz="1600" dirty="0">
              <a:latin typeface="游ゴシック Medium" panose="020B0500000000000000" pitchFamily="50" charset="-128"/>
              <a:ea typeface="游ゴシック Medium" panose="020B0500000000000000" pitchFamily="50" charset="-128"/>
            </a:endParaRPr>
          </a:p>
          <a:p>
            <a:pPr lvl="2"/>
            <a:r>
              <a:rPr kumimoji="1" lang="ja-JP" altLang="en-US" sz="1600" dirty="0">
                <a:latin typeface="游ゴシック Medium" panose="020B0500000000000000" pitchFamily="50" charset="-128"/>
                <a:ea typeface="游ゴシック Medium" panose="020B0500000000000000" pitchFamily="50" charset="-128"/>
              </a:rPr>
              <a:t>勝ち負け判定</a:t>
            </a:r>
            <a:endParaRPr kumimoji="1" lang="en-US" altLang="ja-JP" sz="1600" dirty="0">
              <a:latin typeface="游ゴシック Medium" panose="020B0500000000000000" pitchFamily="50" charset="-128"/>
              <a:ea typeface="游ゴシック Medium" panose="020B0500000000000000" pitchFamily="50" charset="-128"/>
            </a:endParaRPr>
          </a:p>
          <a:p>
            <a:pPr lvl="2"/>
            <a:r>
              <a:rPr lang="ja-JP" altLang="en-US" sz="1600" dirty="0">
                <a:latin typeface="游ゴシック Medium" panose="020B0500000000000000" pitchFamily="50" charset="-128"/>
                <a:ea typeface="游ゴシック Medium" panose="020B0500000000000000" pitchFamily="50" charset="-128"/>
              </a:rPr>
              <a:t>負けチームの選手交代</a:t>
            </a:r>
            <a:endParaRPr kumimoji="1" lang="en-US" altLang="ja-JP" sz="16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2287695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a:xfrm>
            <a:off x="457200" y="274638"/>
            <a:ext cx="5770984" cy="562074"/>
          </a:xfrm>
        </p:spPr>
        <p:txBody>
          <a:bodyPr>
            <a:noAutofit/>
          </a:bodyPr>
          <a:lstStyle/>
          <a:p>
            <a:pPr algn="l"/>
            <a:r>
              <a:rPr kumimoji="1" lang="ja-JP" altLang="en-US" sz="2800" dirty="0">
                <a:latin typeface="游ゴシック Medium" panose="020B0500000000000000" pitchFamily="50" charset="-128"/>
                <a:ea typeface="游ゴシック Medium" panose="020B0500000000000000" pitchFamily="50" charset="-128"/>
              </a:rPr>
              <a:t>定数について</a:t>
            </a:r>
          </a:p>
        </p:txBody>
      </p:sp>
      <p:sp>
        <p:nvSpPr>
          <p:cNvPr id="7" name="コンテンツ プレースホルダー 6"/>
          <p:cNvSpPr>
            <a:spLocks noGrp="1"/>
          </p:cNvSpPr>
          <p:nvPr>
            <p:ph idx="1"/>
          </p:nvPr>
        </p:nvSpPr>
        <p:spPr>
          <a:xfrm>
            <a:off x="457200" y="1052736"/>
            <a:ext cx="8147248" cy="5328591"/>
          </a:xfrm>
        </p:spPr>
        <p:txBody>
          <a:bodyPr>
            <a:normAutofit/>
          </a:bodyPr>
          <a:lstStyle/>
          <a:p>
            <a:r>
              <a:rPr lang="en-US" altLang="ja-JP" sz="2000" dirty="0">
                <a:latin typeface="游ゴシック Medium" panose="020B0500000000000000" pitchFamily="50" charset="-128"/>
                <a:ea typeface="游ゴシック Medium" panose="020B0500000000000000" pitchFamily="50" charset="-128"/>
              </a:rPr>
              <a:t>java</a:t>
            </a:r>
            <a:r>
              <a:rPr lang="ja-JP" altLang="en-US" sz="2000" dirty="0">
                <a:latin typeface="游ゴシック Medium" panose="020B0500000000000000" pitchFamily="50" charset="-128"/>
                <a:ea typeface="游ゴシック Medium" panose="020B0500000000000000" pitchFamily="50" charset="-128"/>
              </a:rPr>
              <a:t>における</a:t>
            </a:r>
            <a:r>
              <a:rPr lang="en-US" altLang="ja-JP" sz="2000" dirty="0">
                <a:latin typeface="游ゴシック Medium" panose="020B0500000000000000" pitchFamily="50" charset="-128"/>
                <a:ea typeface="游ゴシック Medium" panose="020B0500000000000000" pitchFamily="50" charset="-128"/>
              </a:rPr>
              <a:t>『</a:t>
            </a:r>
            <a:r>
              <a:rPr lang="ja-JP" altLang="en-US" sz="2000" dirty="0">
                <a:latin typeface="游ゴシック Medium" panose="020B0500000000000000" pitchFamily="50" charset="-128"/>
                <a:ea typeface="游ゴシック Medium" panose="020B0500000000000000" pitchFamily="50" charset="-128"/>
              </a:rPr>
              <a:t>定数の定義方法</a:t>
            </a:r>
            <a:r>
              <a:rPr lang="en-US" altLang="ja-JP" sz="2000" dirty="0">
                <a:latin typeface="游ゴシック Medium" panose="020B0500000000000000" pitchFamily="50" charset="-128"/>
                <a:ea typeface="游ゴシック Medium" panose="020B0500000000000000" pitchFamily="50" charset="-128"/>
              </a:rPr>
              <a:t>』</a:t>
            </a:r>
            <a:r>
              <a:rPr lang="ja-JP" altLang="en-US" sz="2000" dirty="0">
                <a:latin typeface="游ゴシック Medium" panose="020B0500000000000000" pitchFamily="50" charset="-128"/>
                <a:ea typeface="游ゴシック Medium" panose="020B0500000000000000" pitchFamily="50" charset="-128"/>
              </a:rPr>
              <a:t>は下記のようになります。</a:t>
            </a:r>
            <a:endParaRPr lang="en-US" altLang="ja-JP" sz="2000" dirty="0">
              <a:latin typeface="游ゴシック Medium" panose="020B0500000000000000" pitchFamily="50" charset="-128"/>
              <a:ea typeface="游ゴシック Medium" panose="020B0500000000000000" pitchFamily="50" charset="-128"/>
            </a:endParaRPr>
          </a:p>
          <a:p>
            <a:endParaRPr kumimoji="1" lang="en-US" altLang="ja-JP" sz="2000" dirty="0">
              <a:latin typeface="游ゴシック Medium" panose="020B0500000000000000" pitchFamily="50" charset="-128"/>
              <a:ea typeface="游ゴシック Medium" panose="020B0500000000000000" pitchFamily="50" charset="-128"/>
            </a:endParaRP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556792"/>
            <a:ext cx="7354887" cy="46672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四角形吹き出し 1"/>
          <p:cNvSpPr/>
          <p:nvPr/>
        </p:nvSpPr>
        <p:spPr>
          <a:xfrm>
            <a:off x="4997290" y="1700808"/>
            <a:ext cx="3528392" cy="792088"/>
          </a:xfrm>
          <a:prstGeom prst="wedgeRectCallout">
            <a:avLst>
              <a:gd name="adj1" fmla="val -60570"/>
              <a:gd name="adj2" fmla="val 11705"/>
            </a:avLst>
          </a:prstGeom>
        </p:spPr>
        <p:style>
          <a:lnRef idx="1">
            <a:schemeClr val="accent5"/>
          </a:lnRef>
          <a:fillRef idx="2">
            <a:schemeClr val="accent5"/>
          </a:fillRef>
          <a:effectRef idx="1">
            <a:schemeClr val="accent5"/>
          </a:effectRef>
          <a:fontRef idx="minor">
            <a:schemeClr val="dk1"/>
          </a:fontRef>
        </p:style>
        <p:txBody>
          <a:bodyPr rtlCol="0" anchor="ctr"/>
          <a:lstStyle/>
          <a:p>
            <a:r>
              <a:rPr kumimoji="1" lang="en-US" altLang="ja-JP" sz="1400" dirty="0"/>
              <a:t>public static final </a:t>
            </a:r>
            <a:r>
              <a:rPr kumimoji="1" lang="ja-JP" altLang="en-US" sz="1400" dirty="0"/>
              <a:t>型名 変数名 </a:t>
            </a:r>
            <a:r>
              <a:rPr kumimoji="1" lang="en-US" altLang="ja-JP" sz="1400" dirty="0"/>
              <a:t>= </a:t>
            </a:r>
            <a:r>
              <a:rPr kumimoji="1" lang="ja-JP" altLang="en-US" sz="1400" dirty="0"/>
              <a:t>値</a:t>
            </a:r>
            <a:endParaRPr kumimoji="1" lang="en-US" altLang="ja-JP" sz="1400" dirty="0"/>
          </a:p>
          <a:p>
            <a:r>
              <a:rPr lang="ja-JP" altLang="en-US" sz="1400" dirty="0"/>
              <a:t>これを「</a:t>
            </a:r>
            <a:r>
              <a:rPr lang="en-US" altLang="ja-JP" sz="1400" dirty="0"/>
              <a:t>main</a:t>
            </a:r>
            <a:r>
              <a:rPr lang="ja-JP" altLang="en-US" sz="1400" dirty="0"/>
              <a:t>メソッドの外」に記述します。</a:t>
            </a:r>
            <a:endParaRPr lang="en-US" altLang="ja-JP" sz="1400" dirty="0"/>
          </a:p>
        </p:txBody>
      </p:sp>
    </p:spTree>
    <p:extLst>
      <p:ext uri="{BB962C8B-B14F-4D97-AF65-F5344CB8AC3E}">
        <p14:creationId xmlns:p14="http://schemas.microsoft.com/office/powerpoint/2010/main" val="4240253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a:xfrm>
            <a:off x="457200" y="274638"/>
            <a:ext cx="5770984" cy="562074"/>
          </a:xfrm>
        </p:spPr>
        <p:txBody>
          <a:bodyPr>
            <a:noAutofit/>
          </a:bodyPr>
          <a:lstStyle/>
          <a:p>
            <a:pPr algn="l"/>
            <a:r>
              <a:rPr kumimoji="1" lang="ja-JP" altLang="en-US" sz="2800" dirty="0">
                <a:latin typeface="游ゴシック Medium" panose="020B0500000000000000" pitchFamily="50" charset="-128"/>
                <a:ea typeface="游ゴシック Medium" panose="020B0500000000000000" pitchFamily="50" charset="-128"/>
              </a:rPr>
              <a:t>プロジェクトについて</a:t>
            </a:r>
          </a:p>
        </p:txBody>
      </p:sp>
      <p:sp>
        <p:nvSpPr>
          <p:cNvPr id="7" name="コンテンツ プレースホルダー 6"/>
          <p:cNvSpPr>
            <a:spLocks noGrp="1"/>
          </p:cNvSpPr>
          <p:nvPr>
            <p:ph idx="1"/>
          </p:nvPr>
        </p:nvSpPr>
        <p:spPr>
          <a:xfrm>
            <a:off x="457200" y="1052736"/>
            <a:ext cx="8147248" cy="5328591"/>
          </a:xfrm>
        </p:spPr>
        <p:txBody>
          <a:bodyPr>
            <a:normAutofit/>
          </a:bodyPr>
          <a:lstStyle/>
          <a:p>
            <a:r>
              <a:rPr kumimoji="1" lang="ja-JP" altLang="en-US" sz="2000" dirty="0">
                <a:latin typeface="游ゴシック Medium" panose="020B0500000000000000" pitchFamily="50" charset="-128"/>
                <a:ea typeface="游ゴシック Medium" panose="020B0500000000000000" pitchFamily="50" charset="-128"/>
              </a:rPr>
              <a:t>下記のルールに従ってプロジェクトを作成してください</a:t>
            </a:r>
            <a:endParaRPr kumimoji="1" lang="en-US" altLang="ja-JP" sz="2000" dirty="0">
              <a:latin typeface="游ゴシック Medium" panose="020B0500000000000000" pitchFamily="50" charset="-128"/>
              <a:ea typeface="游ゴシック Medium" panose="020B0500000000000000" pitchFamily="50" charset="-128"/>
            </a:endParaRPr>
          </a:p>
          <a:p>
            <a:pPr lvl="1"/>
            <a:r>
              <a:rPr lang="ja-JP" altLang="en-US" sz="1600" dirty="0">
                <a:latin typeface="游ゴシック Medium" panose="020B0500000000000000" pitchFamily="50" charset="-128"/>
                <a:ea typeface="游ゴシック Medium" panose="020B0500000000000000" pitchFamily="50" charset="-128"/>
              </a:rPr>
              <a:t>プロジェクト名は「</a:t>
            </a:r>
            <a:r>
              <a:rPr lang="en-US" altLang="ja-JP" sz="1600" dirty="0" err="1">
                <a:latin typeface="游ゴシック Medium" panose="020B0500000000000000" pitchFamily="50" charset="-128"/>
                <a:ea typeface="游ゴシック Medium" panose="020B0500000000000000" pitchFamily="50" charset="-128"/>
              </a:rPr>
              <a:t>java_exercise_group_rps</a:t>
            </a:r>
            <a:r>
              <a:rPr lang="en-US" altLang="ja-JP" sz="1600" dirty="0">
                <a:latin typeface="游ゴシック Medium" panose="020B0500000000000000" pitchFamily="50" charset="-128"/>
                <a:ea typeface="游ゴシック Medium" panose="020B0500000000000000" pitchFamily="50" charset="-128"/>
              </a:rPr>
              <a:t>_</a:t>
            </a:r>
            <a:r>
              <a:rPr lang="ja-JP" altLang="en-US" sz="1600" dirty="0">
                <a:latin typeface="游ゴシック Medium" panose="020B0500000000000000" pitchFamily="50" charset="-128"/>
                <a:ea typeface="游ゴシック Medium" panose="020B0500000000000000" pitchFamily="50" charset="-128"/>
              </a:rPr>
              <a:t>名前」（名前はローマ字）</a:t>
            </a:r>
            <a:endParaRPr lang="en-US" altLang="ja-JP" sz="1600" dirty="0">
              <a:latin typeface="游ゴシック Medium" panose="020B0500000000000000" pitchFamily="50" charset="-128"/>
              <a:ea typeface="游ゴシック Medium" panose="020B0500000000000000" pitchFamily="50" charset="-128"/>
            </a:endParaRPr>
          </a:p>
          <a:p>
            <a:pPr lvl="1"/>
            <a:r>
              <a:rPr kumimoji="1" lang="ja-JP" altLang="en-US" sz="1600" dirty="0">
                <a:latin typeface="游ゴシック Medium" panose="020B0500000000000000" pitchFamily="50" charset="-128"/>
                <a:ea typeface="游ゴシック Medium" panose="020B0500000000000000" pitchFamily="50" charset="-128"/>
              </a:rPr>
              <a:t>パッケージ名は「</a:t>
            </a:r>
            <a:r>
              <a:rPr kumimoji="1" lang="en-US" altLang="ja-JP" sz="1600" dirty="0" err="1">
                <a:latin typeface="游ゴシック Medium" panose="020B0500000000000000" pitchFamily="50" charset="-128"/>
                <a:ea typeface="游ゴシック Medium" panose="020B0500000000000000" pitchFamily="50" charset="-128"/>
              </a:rPr>
              <a:t>jp.co.exercise.rps</a:t>
            </a:r>
            <a:r>
              <a:rPr kumimoji="1" lang="ja-JP" altLang="en-US" sz="1600" dirty="0">
                <a:latin typeface="游ゴシック Medium" panose="020B0500000000000000" pitchFamily="50" charset="-128"/>
                <a:ea typeface="游ゴシック Medium" panose="020B0500000000000000" pitchFamily="50" charset="-128"/>
              </a:rPr>
              <a:t>」</a:t>
            </a:r>
            <a:endParaRPr kumimoji="1" lang="en-US" altLang="ja-JP" sz="1600" dirty="0">
              <a:latin typeface="游ゴシック Medium" panose="020B0500000000000000" pitchFamily="50" charset="-128"/>
              <a:ea typeface="游ゴシック Medium" panose="020B0500000000000000" pitchFamily="50" charset="-128"/>
            </a:endParaRPr>
          </a:p>
          <a:p>
            <a:pPr lvl="1"/>
            <a:r>
              <a:rPr kumimoji="1" lang="ja-JP" altLang="en-US" sz="1600" dirty="0">
                <a:latin typeface="游ゴシック Medium" panose="020B0500000000000000" pitchFamily="50" charset="-128"/>
                <a:ea typeface="游ゴシック Medium" panose="020B0500000000000000" pitchFamily="50" charset="-128"/>
              </a:rPr>
              <a:t>クラス名は「</a:t>
            </a:r>
            <a:r>
              <a:rPr kumimoji="1" lang="en-US" altLang="ja-JP" sz="1600" dirty="0" err="1">
                <a:latin typeface="游ゴシック Medium" panose="020B0500000000000000" pitchFamily="50" charset="-128"/>
                <a:ea typeface="游ゴシック Medium" panose="020B0500000000000000" pitchFamily="50" charset="-128"/>
              </a:rPr>
              <a:t>GroupRPS</a:t>
            </a:r>
            <a:r>
              <a:rPr kumimoji="1" lang="ja-JP" altLang="en-US" sz="1600" dirty="0">
                <a:latin typeface="游ゴシック Medium" panose="020B0500000000000000" pitchFamily="50" charset="-128"/>
                <a:ea typeface="游ゴシック Medium" panose="020B0500000000000000" pitchFamily="50" charset="-128"/>
              </a:rPr>
              <a:t>」</a:t>
            </a:r>
            <a:endParaRPr kumimoji="1" lang="en-US" altLang="ja-JP" sz="16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2339581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p:cNvSpPr>
            <a:spLocks noGrp="1"/>
          </p:cNvSpPr>
          <p:nvPr>
            <p:ph type="title"/>
          </p:nvPr>
        </p:nvSpPr>
        <p:spPr>
          <a:xfrm>
            <a:off x="457200" y="274638"/>
            <a:ext cx="5770984" cy="562074"/>
          </a:xfrm>
        </p:spPr>
        <p:txBody>
          <a:bodyPr>
            <a:noAutofit/>
          </a:bodyPr>
          <a:lstStyle/>
          <a:p>
            <a:pPr algn="l"/>
            <a:r>
              <a:rPr kumimoji="1" lang="ja-JP" altLang="en-US" sz="2800" dirty="0">
                <a:latin typeface="游ゴシック Medium" panose="020B0500000000000000" pitchFamily="50" charset="-128"/>
                <a:ea typeface="游ゴシック Medium" panose="020B0500000000000000" pitchFamily="50" charset="-128"/>
              </a:rPr>
              <a:t>追加課題</a:t>
            </a:r>
          </a:p>
        </p:txBody>
      </p:sp>
      <p:sp>
        <p:nvSpPr>
          <p:cNvPr id="7" name="コンテンツ プレースホルダー 6"/>
          <p:cNvSpPr>
            <a:spLocks noGrp="1"/>
          </p:cNvSpPr>
          <p:nvPr>
            <p:ph idx="1"/>
          </p:nvPr>
        </p:nvSpPr>
        <p:spPr>
          <a:xfrm>
            <a:off x="457200" y="1052737"/>
            <a:ext cx="8147248" cy="2160240"/>
          </a:xfrm>
        </p:spPr>
        <p:txBody>
          <a:bodyPr>
            <a:normAutofit/>
          </a:bodyPr>
          <a:lstStyle/>
          <a:p>
            <a:r>
              <a:rPr kumimoji="1" lang="ja-JP" altLang="en-US" sz="1800" dirty="0">
                <a:latin typeface="游ゴシック Medium" panose="020B0500000000000000" pitchFamily="50" charset="-128"/>
                <a:ea typeface="游ゴシック Medium" panose="020B0500000000000000" pitchFamily="50" charset="-128"/>
              </a:rPr>
              <a:t>基本機能の実装が完了した人は、以下の追加機能実装に挑戦してください</a:t>
            </a:r>
            <a:endParaRPr kumimoji="1" lang="en-US" altLang="ja-JP" sz="1800" dirty="0">
              <a:latin typeface="游ゴシック Medium" panose="020B0500000000000000" pitchFamily="50" charset="-128"/>
              <a:ea typeface="游ゴシック Medium" panose="020B0500000000000000" pitchFamily="50" charset="-128"/>
            </a:endParaRPr>
          </a:p>
          <a:p>
            <a:pPr marL="0" indent="0">
              <a:buNone/>
            </a:pPr>
            <a:endParaRPr kumimoji="1" lang="en-US" altLang="ja-JP" sz="1800" dirty="0">
              <a:latin typeface="游ゴシック Medium" panose="020B0500000000000000" pitchFamily="50" charset="-128"/>
              <a:ea typeface="游ゴシック Medium" panose="020B0500000000000000" pitchFamily="50" charset="-128"/>
            </a:endParaRPr>
          </a:p>
          <a:p>
            <a:r>
              <a:rPr lang="ja-JP" altLang="en-US" sz="1800" dirty="0">
                <a:latin typeface="游ゴシック Medium" panose="020B0500000000000000" pitchFamily="50" charset="-128"/>
                <a:ea typeface="游ゴシック Medium" panose="020B0500000000000000" pitchFamily="50" charset="-128"/>
              </a:rPr>
              <a:t>じゃんけんの最終結果を表示したあとに、試合の記録を一覧にして出力してください。</a:t>
            </a:r>
            <a:endParaRPr lang="en-US" altLang="ja-JP" sz="1800" dirty="0">
              <a:latin typeface="游ゴシック Medium" panose="020B0500000000000000" pitchFamily="50" charset="-128"/>
              <a:ea typeface="游ゴシック Medium" panose="020B0500000000000000" pitchFamily="50" charset="-128"/>
            </a:endParaRPr>
          </a:p>
          <a:p>
            <a:pPr lvl="1"/>
            <a:r>
              <a:rPr lang="ja-JP" altLang="en-US" sz="1400" dirty="0">
                <a:latin typeface="游ゴシック Medium" panose="020B0500000000000000" pitchFamily="50" charset="-128"/>
                <a:ea typeface="游ゴシック Medium" panose="020B0500000000000000" pitchFamily="50" charset="-128"/>
              </a:rPr>
              <a:t>選手ポジションの組み合わせと選択した手を表示します。</a:t>
            </a:r>
          </a:p>
          <a:p>
            <a:pPr lvl="1"/>
            <a:r>
              <a:rPr lang="ja-JP" altLang="en-US" sz="1400" dirty="0">
                <a:latin typeface="游ゴシック Medium" panose="020B0500000000000000" pitchFamily="50" charset="-128"/>
                <a:ea typeface="游ゴシック Medium" panose="020B0500000000000000" pitchFamily="50" charset="-128"/>
              </a:rPr>
              <a:t>選手ポジションには勝ったほうに白星</a:t>
            </a:r>
            <a:r>
              <a:rPr lang="en-US" altLang="ja-JP" sz="1400" dirty="0">
                <a:latin typeface="游ゴシック Medium" panose="020B0500000000000000" pitchFamily="50" charset="-128"/>
                <a:ea typeface="游ゴシック Medium" panose="020B0500000000000000" pitchFamily="50" charset="-128"/>
              </a:rPr>
              <a:t>(*)</a:t>
            </a:r>
            <a:r>
              <a:rPr lang="ja-JP" altLang="en-US" sz="1400" dirty="0">
                <a:latin typeface="游ゴシック Medium" panose="020B0500000000000000" pitchFamily="50" charset="-128"/>
                <a:ea typeface="游ゴシック Medium" panose="020B0500000000000000" pitchFamily="50" charset="-128"/>
              </a:rPr>
              <a:t>をつけてください。</a:t>
            </a:r>
          </a:p>
          <a:p>
            <a:pPr lvl="1"/>
            <a:r>
              <a:rPr lang="ja-JP" altLang="en-US" sz="1400" dirty="0">
                <a:latin typeface="游ゴシック Medium" panose="020B0500000000000000" pitchFamily="50" charset="-128"/>
                <a:ea typeface="游ゴシック Medium" panose="020B0500000000000000" pitchFamily="50" charset="-128"/>
              </a:rPr>
              <a:t>引き分けの勝負は表示不要です。</a:t>
            </a:r>
          </a:p>
          <a:p>
            <a:pPr marL="0" indent="0">
              <a:buNone/>
            </a:pPr>
            <a:endParaRPr lang="ja-JP" altLang="en-US" sz="1600" dirty="0">
              <a:latin typeface="游ゴシック Medium" panose="020B0500000000000000" pitchFamily="50" charset="-128"/>
              <a:ea typeface="游ゴシック Medium" panose="020B0500000000000000" pitchFamily="50" charset="-128"/>
            </a:endParaRPr>
          </a:p>
        </p:txBody>
      </p:sp>
      <p:sp>
        <p:nvSpPr>
          <p:cNvPr id="2" name="正方形/長方形 1"/>
          <p:cNvSpPr/>
          <p:nvPr/>
        </p:nvSpPr>
        <p:spPr>
          <a:xfrm>
            <a:off x="971600" y="3195459"/>
            <a:ext cx="3456384" cy="310854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sz="1400" dirty="0">
                <a:latin typeface="ＭＳ ゴシック" panose="020B0609070205080204" pitchFamily="49" charset="-128"/>
                <a:ea typeface="ＭＳ ゴシック" panose="020B0609070205080204" pitchFamily="49" charset="-128"/>
              </a:rPr>
              <a:t>実行例</a:t>
            </a:r>
            <a:endParaRPr lang="en-US" altLang="ja-JP" sz="1400" dirty="0">
              <a:latin typeface="ＭＳ ゴシック" panose="020B0609070205080204" pitchFamily="49" charset="-128"/>
              <a:ea typeface="ＭＳ ゴシック" panose="020B0609070205080204" pitchFamily="49" charset="-128"/>
            </a:endParaRPr>
          </a:p>
          <a:p>
            <a:endParaRPr lang="en-US" altLang="ja-JP" sz="1400" dirty="0">
              <a:latin typeface="ＭＳ ゴシック" panose="020B0609070205080204" pitchFamily="49" charset="-128"/>
              <a:ea typeface="ＭＳ ゴシック" panose="020B0609070205080204" pitchFamily="49" charset="-128"/>
            </a:endParaRPr>
          </a:p>
          <a:p>
            <a:r>
              <a:rPr lang="ja-JP" altLang="en-US" sz="1400" dirty="0">
                <a:latin typeface="ＭＳ ゴシック" panose="020B0609070205080204" pitchFamily="49" charset="-128"/>
                <a:ea typeface="ＭＳ ゴシック" panose="020B0609070205080204" pitchFamily="49" charset="-128"/>
              </a:rPr>
              <a:t>プレイヤーチームの勝ちです！</a:t>
            </a:r>
            <a:endParaRPr lang="en-US" altLang="ja-JP" sz="1400" dirty="0">
              <a:latin typeface="ＭＳ ゴシック" panose="020B0609070205080204" pitchFamily="49" charset="-128"/>
              <a:ea typeface="ＭＳ ゴシック" panose="020B0609070205080204" pitchFamily="49" charset="-128"/>
            </a:endParaRPr>
          </a:p>
          <a:p>
            <a:endParaRPr lang="en-US" altLang="ja-JP" sz="1400" dirty="0">
              <a:latin typeface="ＭＳ ゴシック" panose="020B0609070205080204" pitchFamily="49" charset="-128"/>
              <a:ea typeface="ＭＳ ゴシック" panose="020B0609070205080204" pitchFamily="49" charset="-128"/>
            </a:endParaRPr>
          </a:p>
          <a:p>
            <a:r>
              <a:rPr lang="ja-JP" altLang="en-US" sz="1400" dirty="0">
                <a:latin typeface="ＭＳ ゴシック" panose="020B0609070205080204" pitchFamily="49" charset="-128"/>
                <a:ea typeface="ＭＳ ゴシック" panose="020B0609070205080204" pitchFamily="49" charset="-128"/>
              </a:rPr>
              <a:t>           組  </a:t>
            </a:r>
            <a:r>
              <a:rPr lang="en-US" altLang="ja-JP" sz="1400" dirty="0">
                <a:latin typeface="ＭＳ ゴシック" panose="020B0609070205080204" pitchFamily="49" charset="-128"/>
                <a:ea typeface="ＭＳ ゴシック" panose="020B0609070205080204" pitchFamily="49" charset="-128"/>
              </a:rPr>
              <a:t>|  PL     PC     </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先鋒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先鋒*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グー   パー   </a:t>
            </a:r>
          </a:p>
          <a:p>
            <a:r>
              <a:rPr lang="ja-JP" altLang="en-US" sz="1400" dirty="0">
                <a:latin typeface="ＭＳ ゴシック" panose="020B0609070205080204" pitchFamily="49" charset="-128"/>
                <a:ea typeface="ＭＳ ゴシック" panose="020B0609070205080204" pitchFamily="49" charset="-128"/>
              </a:rPr>
              <a:t> 次鋒*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先鋒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チョキ パー   </a:t>
            </a:r>
          </a:p>
          <a:p>
            <a:r>
              <a:rPr lang="ja-JP" altLang="en-US" sz="1400" dirty="0">
                <a:latin typeface="ＭＳ ゴシック" panose="020B0609070205080204" pitchFamily="49" charset="-128"/>
                <a:ea typeface="ＭＳ ゴシック" panose="020B0609070205080204" pitchFamily="49" charset="-128"/>
              </a:rPr>
              <a:t> 次鋒*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次鋒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グー   チョキ </a:t>
            </a:r>
          </a:p>
          <a:p>
            <a:r>
              <a:rPr lang="ja-JP" altLang="en-US" sz="1400" dirty="0">
                <a:latin typeface="ＭＳ ゴシック" panose="020B0609070205080204" pitchFamily="49" charset="-128"/>
                <a:ea typeface="ＭＳ ゴシック" panose="020B0609070205080204" pitchFamily="49" charset="-128"/>
              </a:rPr>
              <a:t> 次鋒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中堅*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パー   チョキ</a:t>
            </a:r>
          </a:p>
          <a:p>
            <a:r>
              <a:rPr lang="ja-JP" altLang="en-US" sz="1400" dirty="0">
                <a:latin typeface="ＭＳ ゴシック" panose="020B0609070205080204" pitchFamily="49" charset="-128"/>
                <a:ea typeface="ＭＳ ゴシック" panose="020B0609070205080204" pitchFamily="49" charset="-128"/>
              </a:rPr>
              <a:t> 中堅*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中堅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チョキ パー   </a:t>
            </a:r>
          </a:p>
          <a:p>
            <a:r>
              <a:rPr lang="ja-JP" altLang="en-US" sz="1400" dirty="0">
                <a:latin typeface="ＭＳ ゴシック" panose="020B0609070205080204" pitchFamily="49" charset="-128"/>
                <a:ea typeface="ＭＳ ゴシック" panose="020B0609070205080204" pitchFamily="49" charset="-128"/>
              </a:rPr>
              <a:t> 中堅*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副将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グー   チョキ </a:t>
            </a:r>
          </a:p>
          <a:p>
            <a:r>
              <a:rPr lang="ja-JP" altLang="en-US" sz="1400" dirty="0">
                <a:latin typeface="ＭＳ ゴシック" panose="020B0609070205080204" pitchFamily="49" charset="-128"/>
                <a:ea typeface="ＭＳ ゴシック" panose="020B0609070205080204" pitchFamily="49" charset="-128"/>
              </a:rPr>
              <a:t> 中堅*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大将  </a:t>
            </a:r>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チョキ パー   </a:t>
            </a:r>
          </a:p>
          <a:p>
            <a:r>
              <a:rPr lang="en-US" altLang="ja-JP" sz="1400" dirty="0">
                <a:latin typeface="ＭＳ ゴシック" panose="020B0609070205080204" pitchFamily="49" charset="-128"/>
                <a:ea typeface="ＭＳ ゴシック" panose="020B0609070205080204" pitchFamily="49" charset="-128"/>
              </a:rPr>
              <a:t>--------------------------------</a:t>
            </a:r>
          </a:p>
        </p:txBody>
      </p:sp>
    </p:spTree>
    <p:extLst>
      <p:ext uri="{BB962C8B-B14F-4D97-AF65-F5344CB8AC3E}">
        <p14:creationId xmlns:p14="http://schemas.microsoft.com/office/powerpoint/2010/main" val="410547691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TotalTime>
  <Words>685</Words>
  <Application>Microsoft Office PowerPoint</Application>
  <PresentationFormat>画面に合わせる (4:3)</PresentationFormat>
  <Paragraphs>100</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ＭＳ ゴシック</vt:lpstr>
      <vt:lpstr>UD デジタル 教科書体 NP-R</vt:lpstr>
      <vt:lpstr>游ゴシック Medium</vt:lpstr>
      <vt:lpstr>Arial</vt:lpstr>
      <vt:lpstr>Calibri</vt:lpstr>
      <vt:lpstr>Office ​​テーマ</vt:lpstr>
      <vt:lpstr>演習課題： 団体じゃんけん</vt:lpstr>
      <vt:lpstr>はじめに</vt:lpstr>
      <vt:lpstr>どんなプログラムを作成するか</vt:lpstr>
      <vt:lpstr>実行結果</vt:lpstr>
      <vt:lpstr>プログラミングの流れ</vt:lpstr>
      <vt:lpstr>定数について</vt:lpstr>
      <vt:lpstr>プロジェクトについて</vt:lpstr>
      <vt:lpstr>追加課題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演習課題： 勝ち抜きじゃんけん</dc:title>
  <dc:creator>Kensuke Mori</dc:creator>
  <cp:lastModifiedBy>健輔 森</cp:lastModifiedBy>
  <cp:revision>23</cp:revision>
  <cp:lastPrinted>2020-05-22T01:28:10Z</cp:lastPrinted>
  <dcterms:created xsi:type="dcterms:W3CDTF">2020-05-22T00:13:33Z</dcterms:created>
  <dcterms:modified xsi:type="dcterms:W3CDTF">2024-05-27T10:33:49Z</dcterms:modified>
</cp:coreProperties>
</file>